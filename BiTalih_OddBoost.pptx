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URUN STRATEJISI  ·  SABIT IHTIMALLI AT YARISI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C6F73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91919"/>
                </a:solidFill>
                <a:latin typeface="Arial"/>
              </a:rPr>
              <a:t>Odd Boost: rakipler nasil yapiyor, BiTalih nasil konumlanmali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1919"/>
                </a:solidFill>
                <a:latin typeface="Arial"/>
              </a:rPr>
              <a:t>Odd Boost bir bonus degil. Operatorun marjini bilincli feda edip secili bir orana piyasa ustu fiyat vermesidir. Uc isi var: yeni uye cekmek, her gun geri getirmek, yuksek marjli urune (kombine) yonlendirmek.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124712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70532"/>
            <a:ext cx="64008" cy="6400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20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Baglam:</a:t>
            </a:r>
            <a:r>
              <a:rPr sz="1400" b="0">
                <a:solidFill>
                  <a:srgbClr val="191919"/>
                </a:solidFill>
                <a:latin typeface="Arial"/>
              </a:rPr>
              <a:t> Bu, BiTalih'in sabit ihtimalli (fixed odds) at yarisi urunudur. Sabitlenebilir oran oldugu icin UK bookmaker modeli birebir uygulanir; mustehek (ganyan) kisitlari burada gecerli degil.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83764"/>
            <a:ext cx="64008" cy="6400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633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Boost ailesi:</a:t>
            </a:r>
            <a:r>
              <a:rPr sz="1400" b="0">
                <a:solidFill>
                  <a:srgbClr val="191919"/>
                </a:solidFill>
                <a:latin typeface="Arial"/>
              </a:rPr>
              <a:t> tekli fiyat boost, kombine boost (gun ici kosular arasi), jeton boost, ekstra plase, Best Odds Guaranteed (BOG), para iade special.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96996"/>
            <a:ext cx="64008" cy="6400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3467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BOG one cikiyor.</a:t>
            </a:r>
            <a:r>
              <a:rPr sz="1400" b="0">
                <a:solidFill>
                  <a:srgbClr val="191919"/>
                </a:solidFill>
                <a:latin typeface="Arial"/>
              </a:rPr>
              <a:t> Sabit ihtimalli yarisinin en guclu deger mekanigi: aldigin oran ile baslangic orani (SP) karsilastirilir, hep musteri lehine odenir. Erken benimsemek net farklilasma saglar.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0227"/>
            <a:ext cx="64008" cy="6400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05993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Boost'u sadakat motoruna bagla.</a:t>
            </a:r>
            <a:r>
              <a:rPr sz="1400" b="0">
                <a:solidFill>
                  <a:srgbClr val="191919"/>
                </a:solidFill>
                <a:latin typeface="Arial"/>
              </a:rPr>
              <a:t> Gunluk jeton ANBEAN Kulubu odulu olur, koleksiyon karti ekonomisine eklenir.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23460"/>
            <a:ext cx="64008" cy="6400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4773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Guardrail sart.</a:t>
            </a:r>
            <a:r>
              <a:rPr sz="1400" b="0">
                <a:solidFill>
                  <a:srgbClr val="191919"/>
                </a:solidFill>
                <a:latin typeface="Arial"/>
              </a:rPr>
              <a:t> Maksimum stake dusuk, win-only, dar zaman penceresi. Yarista likidite hizli doner.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276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6F73"/>
                </a:solidFill>
                <a:latin typeface="Arial"/>
              </a:rPr>
              <a:t>Rakip gorsel sayfasi (3. slayt) bos birakildi; ekran goruntuleri sonradan eklenecek.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NE ZAMAN  ·  NASIL DEVREYE GIRIYOR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C6F73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919"/>
                </a:solidFill>
                <a:latin typeface="Arial"/>
              </a:rPr>
              <a:t>Tetikleme modelleri ve zamanlama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5577840" cy="2468880"/>
          </a:xfrm>
          <a:prstGeom prst="roundRect">
            <a:avLst/>
          </a:prstGeom>
          <a:solidFill>
            <a:srgbClr val="F1F3F4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0972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90C"/>
                </a:solidFill>
                <a:latin typeface="Arial"/>
              </a:rPr>
              <a:t>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919"/>
                </a:solidFill>
                <a:latin typeface="Arial"/>
              </a:rPr>
              <a:t>Gunluk jeton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099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rial"/>
              </a:rPr>
              <a:t>Musteriye gunde 1 oran artirma hakki verilir, istedigi kupona kendi uygular.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957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F73"/>
                </a:solidFill>
                <a:latin typeface="Arial"/>
              </a:rPr>
              <a:t>Tetik: her gece 00:00 yenilenir. Amac gunluk aktif kullanici (DAU).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06323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Arial"/>
              </a:rPr>
              <a:t>Ref: Ladbrokes Odds 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960120"/>
            <a:ext cx="5577840" cy="2468880"/>
          </a:xfrm>
          <a:prstGeom prst="roundRect">
            <a:avLst/>
          </a:prstGeom>
          <a:solidFill>
            <a:srgbClr val="F1F3F4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0972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90C"/>
                </a:solidFill>
                <a:latin typeface="Arial"/>
              </a:rPr>
              <a:t>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919"/>
                </a:solidFill>
                <a:latin typeface="Arial"/>
              </a:rPr>
              <a:t>Event super 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0992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rial"/>
              </a:rPr>
              <a:t>Buyuk kosuda ana sayfada dev banner. Operator bu bahisten zarari goze alir.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3957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F73"/>
                </a:solidFill>
                <a:latin typeface="Arial"/>
              </a:rPr>
              <a:t>Tetik: buyuk kosutan 60-90 dk once. Amac yeni uye ve sosyal medyada viral olmak.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063239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Arial"/>
              </a:rPr>
              <a:t>Ref: Bet365 Super Boost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657600"/>
            <a:ext cx="5577840" cy="2468880"/>
          </a:xfrm>
          <a:prstGeom prst="roundRect">
            <a:avLst/>
          </a:prstGeom>
          <a:solidFill>
            <a:srgbClr val="F1F3F4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3794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90C"/>
                </a:solidFill>
                <a:latin typeface="Arial"/>
              </a:rPr>
              <a:t>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05079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919"/>
                </a:solidFill>
                <a:latin typeface="Arial"/>
              </a:rPr>
              <a:t>Kombine boost (Acca)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4074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rial"/>
              </a:rPr>
              <a:t>Kupona kosular eklendikce toplam kazanc yuzdesel artar. Cok bacakli kombine kitap icin daha karlidir.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0932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F73"/>
                </a:solidFill>
                <a:latin typeface="Arial"/>
              </a:rPr>
              <a:t>Tetik: surekli acik. Amac oyuncuyu 3 yerine 5-8 kosua itmek.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657600"/>
            <a:ext cx="5577840" cy="2468880"/>
          </a:xfrm>
          <a:prstGeom prst="roundRect">
            <a:avLst/>
          </a:prstGeom>
          <a:solidFill>
            <a:srgbClr val="F1F3F4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794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90C"/>
                </a:solidFill>
                <a:latin typeface="Arial"/>
              </a:rPr>
              <a:t>CRM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05079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1919"/>
                </a:solidFill>
                <a:latin typeface="Arial"/>
              </a:rPr>
              <a:t>Segment tetikli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4074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919"/>
                </a:solidFill>
                <a:latin typeface="Arial"/>
              </a:rPr>
              <a:t>Lapsed, VIP, favori jokey veya hipodrom bazli hedefli boost. Reaktivasyon kampanyalari.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50932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F73"/>
                </a:solidFill>
                <a:latin typeface="Arial"/>
              </a:rPr>
              <a:t>Tetik: davranisa gore otomatik. Amac kayip oyuncuyu geri cagirmak.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F73"/>
                </a:solidFill>
                <a:latin typeface="Arial"/>
              </a:rPr>
              <a:t>At yarisi penceresi dar: standart yaris boost'u yaris gunu ~10:00'da acilir, baslamaya ~15 dk kala kapanir. Likidite hizli degistigi icin limitler de dusuk tutulur.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RAKIP EKRANLARI  ·  GORSEL ALANI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C6F73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919"/>
                </a:solidFill>
                <a:latin typeface="Arial"/>
              </a:rPr>
              <a:t>Rakip ekran goruntuleri (sonradan eklenecek)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77840" cy="347472"/>
          </a:xfrm>
          <a:prstGeom prst="rect">
            <a:avLst/>
          </a:prstGeom>
          <a:solidFill>
            <a:srgbClr val="E8EAED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14984"/>
            <a:ext cx="30678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043"/>
                </a:solidFill>
                <a:latin typeface="Arial"/>
              </a:rPr>
              <a:t>Bet365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7852" y="1014984"/>
            <a:ext cx="23426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590C"/>
                </a:solidFill>
                <a:latin typeface="Arial"/>
              </a:rPr>
              <a:t>Super Boost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399032"/>
            <a:ext cx="5358383" cy="1417320"/>
          </a:xfrm>
          <a:prstGeom prst="rect">
            <a:avLst/>
          </a:prstGeom>
          <a:solidFill>
            <a:srgbClr val="F1F3F4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28800"/>
            <a:ext cx="53583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0A6"/>
                </a:solidFill>
                <a:latin typeface="Arial"/>
              </a:rPr>
              <a:t>Ekran goruntusunu buraya ekle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907791"/>
            <a:ext cx="5358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C4043"/>
                </a:solidFill>
                <a:latin typeface="Arial"/>
              </a:rPr>
              <a:t>Ne gostermeli: </a:t>
            </a:r>
            <a:r>
              <a:rPr sz="1000">
                <a:solidFill>
                  <a:srgbClr val="6C6F73"/>
                </a:solidFill>
                <a:latin typeface="Arial"/>
              </a:rPr>
              <a:t>Event banner, ustu cizili eski fiyat ve yeni boost fiyati (was/now). Loss-leader mantigi.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960120"/>
            <a:ext cx="5577840" cy="347472"/>
          </a:xfrm>
          <a:prstGeom prst="rect">
            <a:avLst/>
          </a:prstGeom>
          <a:solidFill>
            <a:srgbClr val="E8EAED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014984"/>
            <a:ext cx="30678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043"/>
                </a:solidFill>
                <a:latin typeface="Arial"/>
              </a:rPr>
              <a:t>Ladbrokes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0012" y="1014984"/>
            <a:ext cx="23426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590C"/>
                </a:solidFill>
                <a:latin typeface="Arial"/>
              </a:rPr>
              <a:t>Odds Boost jetonu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1399032"/>
            <a:ext cx="5358383" cy="1417320"/>
          </a:xfrm>
          <a:prstGeom prst="rect">
            <a:avLst/>
          </a:prstGeom>
          <a:solidFill>
            <a:srgbClr val="F1F3F4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828800"/>
            <a:ext cx="53583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0A6"/>
                </a:solidFill>
                <a:latin typeface="Arial"/>
              </a:rPr>
              <a:t>Ekran goruntusunu buraya ekle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907791"/>
            <a:ext cx="5358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C4043"/>
                </a:solidFill>
                <a:latin typeface="Arial"/>
              </a:rPr>
              <a:t>Ne gostermeli: </a:t>
            </a:r>
            <a:r>
              <a:rPr sz="1000">
                <a:solidFill>
                  <a:srgbClr val="6C6F73"/>
                </a:solidFill>
                <a:latin typeface="Arial"/>
              </a:rPr>
              <a:t>Gunluk jeton ('1 boost hakkin var') ve kupona uygulama akisi. Retention mekanigi.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5577840" cy="347472"/>
          </a:xfrm>
          <a:prstGeom prst="rect">
            <a:avLst/>
          </a:prstGeom>
          <a:solidFill>
            <a:srgbClr val="E8EAED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712463"/>
            <a:ext cx="30678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043"/>
                </a:solidFill>
                <a:latin typeface="Arial"/>
              </a:rPr>
              <a:t>Bet365 / Betfred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7852" y="3712463"/>
            <a:ext cx="23426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590C"/>
                </a:solidFill>
                <a:latin typeface="Arial"/>
              </a:rPr>
              <a:t>Acca Boost merdiveni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4096512"/>
            <a:ext cx="5358383" cy="1417320"/>
          </a:xfrm>
          <a:prstGeom prst="rect">
            <a:avLst/>
          </a:prstGeom>
          <a:solidFill>
            <a:srgbClr val="F1F3F4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4526280"/>
            <a:ext cx="53583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0A6"/>
                </a:solidFill>
                <a:latin typeface="Arial"/>
              </a:rPr>
              <a:t>Ekran goruntusunu buraya ekle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605272"/>
            <a:ext cx="5358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C4043"/>
                </a:solidFill>
                <a:latin typeface="Arial"/>
              </a:rPr>
              <a:t>Ne gostermeli: </a:t>
            </a:r>
            <a:r>
              <a:rPr sz="1000">
                <a:solidFill>
                  <a:srgbClr val="6C6F73"/>
                </a:solidFill>
                <a:latin typeface="Arial"/>
              </a:rPr>
              <a:t>Bacak sayisina gore artan kazanc yuzdesi tablosu. Margin artirici yapi.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657600"/>
            <a:ext cx="5577840" cy="347472"/>
          </a:xfrm>
          <a:prstGeom prst="rect">
            <a:avLst/>
          </a:prstGeom>
          <a:solidFill>
            <a:srgbClr val="E8EAED"/>
          </a:solidFill>
          <a:ln w="635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712463"/>
            <a:ext cx="30678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4043"/>
                </a:solidFill>
                <a:latin typeface="Arial"/>
              </a:rPr>
              <a:t>William Hill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0012" y="3712463"/>
            <a:ext cx="23426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8590C"/>
                </a:solidFill>
                <a:latin typeface="Arial"/>
              </a:rPr>
              <a:t>Ekstra Plase / BOG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4096512"/>
            <a:ext cx="5358383" cy="1417320"/>
          </a:xfrm>
          <a:prstGeom prst="rect">
            <a:avLst/>
          </a:prstGeom>
          <a:solidFill>
            <a:srgbClr val="F1F3F4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4526280"/>
            <a:ext cx="53583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0A6"/>
                </a:solidFill>
                <a:latin typeface="Arial"/>
              </a:rPr>
              <a:t>Ekran goruntusunu buraya ekle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605272"/>
            <a:ext cx="535838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3C4043"/>
                </a:solidFill>
                <a:latin typeface="Arial"/>
              </a:rPr>
              <a:t>Ne gostermeli: </a:t>
            </a:r>
            <a:r>
              <a:rPr sz="1000">
                <a:solidFill>
                  <a:srgbClr val="6C6F73"/>
                </a:solidFill>
                <a:latin typeface="Arial"/>
              </a:rPr>
              <a:t>Yarista ekstra plase rozeti ('5 sira odeme') ve Best Odds Guaranteed isareti.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6F73"/>
                </a:solidFill>
                <a:latin typeface="Arial"/>
              </a:rPr>
              <a:t>Her kutuya gercek ekran goruntusunu yerlesstir; alttaki aciklama o gorselin ne anlatmasi gerektigini hatirlat.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MEKANIK  ·  NASIL HESAPLANIYOR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C6F73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919"/>
                </a:solidFill>
                <a:latin typeface="Arial"/>
              </a:rPr>
              <a:t>Boost tipleri ve matematigi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F73"/>
                </a:solidFill>
                <a:latin typeface="Arial"/>
              </a:rPr>
              <a:t>100 TL stake uzerinden temsili ornekler (sabit ihtimalli at yarisi). Operator maliyeti yaklasik degerdir; standart oran zaten marj icerdigi icin gercek beklenen maliyet biraz daha dusuktur.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920240" cy="40818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630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Tip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371600"/>
            <a:ext cx="4846320" cy="40818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4630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Hesap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71600"/>
            <a:ext cx="4206240" cy="408188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Sonuc (100 TL)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55648"/>
            <a:ext cx="192024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810512"/>
            <a:ext cx="1810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Tekli fiyat 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55648"/>
            <a:ext cx="484632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1810512"/>
            <a:ext cx="4736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Atin orani 4.50 -&gt; 5.50. Getiri = stake x oran.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755648"/>
            <a:ext cx="420624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1810512"/>
            <a:ext cx="409651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450 yerine 550. Oyuncuya +100 TL deger. Kitaba beklenen maliyet yaklasik %22 stake.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19202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706624"/>
            <a:ext cx="1810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Kombine boost (gun ici kosular)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651760"/>
            <a:ext cx="484632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2706624"/>
            <a:ext cx="4736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3 kosur x 3.00 = 27.00 oran. Kazanc (getiri - stake) x (1+%15).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651760"/>
            <a:ext cx="42062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2706624"/>
            <a:ext cx="409651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Net kazanc 2.600 -&gt; 2.990. Toplam getiri 2.700 -&gt; 3.090. Yuzde orana degil net kazanca isler.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47872"/>
            <a:ext cx="192024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602736"/>
            <a:ext cx="1810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Jeton / kar boost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547872"/>
            <a:ext cx="484632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3602736"/>
            <a:ext cx="4736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Oran 2.00, kara +%50. Kar 100 -&gt; 150.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547872"/>
            <a:ext cx="420624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3602736"/>
            <a:ext cx="409651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Getiri 200 -&gt; 250. Efektif oran 2.50. Max stake cap'li.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43983"/>
            <a:ext cx="19202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498847"/>
            <a:ext cx="1810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Ekstra plase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443983"/>
            <a:ext cx="484632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4498847"/>
            <a:ext cx="4736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Oran sabit. Her-yol = kazan + plase. Odenen sira 3 -&gt; 5.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4443983"/>
            <a:ext cx="420624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5472" y="4498847"/>
            <a:ext cx="409651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Tutar ayni, kazanma ihtimali artar. 4. ve 5. de artik oder.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40096"/>
            <a:ext cx="192024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5394959"/>
            <a:ext cx="18105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Best Odds Guaranteed (BOG)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5340096"/>
            <a:ext cx="484632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5394959"/>
            <a:ext cx="4736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Aldigin oran 6.00. SP 8.00 ise 8.00'den, SP 5.00 ise 6.00'dan odenir.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5340096"/>
            <a:ext cx="4206240" cy="822960"/>
          </a:xfrm>
          <a:prstGeom prst="rect">
            <a:avLst/>
          </a:prstGeom>
          <a:solidFill>
            <a:srgbClr val="F1F3F4"/>
          </a:solidFill>
          <a:ln w="381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5472" y="5394959"/>
            <a:ext cx="4096511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91919"/>
                </a:solidFill>
                <a:latin typeface="Arial"/>
              </a:rPr>
              <a:t>SP yuksekse -&gt; 800, dusukse -&gt; 600. Hep musteri lehine asimetri.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27278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6F73"/>
                </a:solidFill>
                <a:latin typeface="Arial"/>
              </a:rPr>
              <a:t>BOG sabit ihtimalliye ozgudur: oran kilitlenmis oldugu icin 'en iyi oran' garantisi verilebilir. Mustehek sistemde karsiligi yoktur, bu yuzden guclu farklilasma noktasidir.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AT YARISI  ·  OZEL DINAMIKLER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C6F73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919"/>
                </a:solidFill>
                <a:latin typeface="Arial"/>
              </a:rPr>
              <a:t>Sabit ihtimalli yarista boost playbook'u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1919"/>
                </a:solidFill>
                <a:latin typeface="Arial"/>
              </a:rPr>
              <a:t>Mekanikler (UK referansi)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25880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Best Odds Guaranteed (BOG).</a:t>
            </a:r>
            <a:r>
              <a:rPr sz="1300">
                <a:solidFill>
                  <a:srgbClr val="191919"/>
                </a:solidFill>
                <a:latin typeface="Arial"/>
              </a:rPr>
              <a:t> Aldigin fiyattan SP yuksek cikarsa SP'den odenirsin. Yarisinin en guclu deger mekanigi.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67128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Ekstra plase.</a:t>
            </a:r>
            <a:r>
              <a:rPr sz="1300">
                <a:solidFill>
                  <a:srgbClr val="191919"/>
                </a:solidFill>
                <a:latin typeface="Arial"/>
              </a:rPr>
              <a:t> Buyuk sahali handikaplarda odenen sira artar. Saha kalabaliksa deger yuksek.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008376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Para iade special.</a:t>
            </a:r>
            <a:r>
              <a:rPr sz="1300">
                <a:solidFill>
                  <a:srgbClr val="191919"/>
                </a:solidFill>
                <a:latin typeface="Arial"/>
              </a:rPr>
              <a:t> 'Favoriye 2. olursa iade', dusme veya foto-finish iadesi. Guven satisi.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849624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Nap of the day + jokey/antrenor ozel.</a:t>
            </a:r>
            <a:r>
              <a:rPr sz="1300">
                <a:solidFill>
                  <a:srgbClr val="191919"/>
                </a:solidFill>
                <a:latin typeface="Arial"/>
              </a:rPr>
              <a:t> Gunun ati veya populer isim uzerinden paket boost.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690872"/>
            <a:ext cx="5120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Limitler.</a:t>
            </a:r>
            <a:r>
              <a:rPr sz="1300">
                <a:solidFill>
                  <a:srgbClr val="191919"/>
                </a:solidFill>
                <a:latin typeface="Arial"/>
              </a:rPr>
              <a:t> Likidite hizli dondugu icin max stake dusuk, exotic bahislerde kisit.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914400"/>
            <a:ext cx="9144" cy="521208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1919"/>
                </a:solidFill>
                <a:latin typeface="Arial"/>
              </a:rPr>
              <a:t>BiTalih oyun plani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32588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BOG'u amiral mekanik yap.</a:t>
            </a:r>
            <a:r>
              <a:rPr sz="1300">
                <a:solidFill>
                  <a:srgbClr val="191919"/>
                </a:solidFill>
                <a:latin typeface="Arial"/>
              </a:rPr>
              <a:t> En gorunur, en guclu vaat. Buyuk kosularla baslat, 'BiTalih garantisi' diye markala.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2167128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Ekstra plase'yi cok atli handikaplarda ac.</a:t>
            </a:r>
            <a:r>
              <a:rPr sz="1300">
                <a:solidFill>
                  <a:srgbClr val="191919"/>
                </a:solidFill>
                <a:latin typeface="Arial"/>
              </a:rPr>
              <a:t> Degerin en yuksek oldugu yer burasi.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3008376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Iade special'i sinirli ve viral senaryoda kullan.</a:t>
            </a:r>
            <a:r>
              <a:rPr sz="1300">
                <a:solidFill>
                  <a:srgbClr val="191919"/>
                </a:solidFill>
                <a:latin typeface="Arial"/>
              </a:rPr>
              <a:t> Favoriye 2., foto-finish. Butceyi koru.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849624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Gunun ati boost'unu editoryal takvime bagla.</a:t>
            </a:r>
            <a:r>
              <a:rPr sz="1300">
                <a:solidFill>
                  <a:srgbClr val="191919"/>
                </a:solidFill>
                <a:latin typeface="Arial"/>
              </a:rPr>
              <a:t> Push ile dagit, start oncesi kapat.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690872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191919"/>
                </a:solidFill>
                <a:latin typeface="Arial"/>
              </a:rPr>
              <a:t>Limitleri siki tut.</a:t>
            </a:r>
            <a:r>
              <a:rPr sz="1300">
                <a:solidFill>
                  <a:srgbClr val="191919"/>
                </a:solidFill>
                <a:latin typeface="Arial"/>
              </a:rPr>
              <a:t> Dusuk max stake, win-only, dar pencere.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7278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C6F73"/>
                </a:solidFill>
                <a:latin typeface="Arial"/>
              </a:rPr>
              <a:t>Siralama onerisi: once gunluk jeton (retention) ve BOG (farklilasma), sonra kombine boost (margin), en son event super boost (acquisition).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" y="164592"/>
            <a:ext cx="91440" cy="9144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BITALIH  ·  WIREFRAME VE DURUSU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C6F73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1919"/>
                </a:solidFill>
                <a:latin typeface="Arial"/>
              </a:rPr>
              <a:t>Ekran taslaklari (siyah-beyaz)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32688"/>
            <a:ext cx="5303520" cy="242316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0584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Arial"/>
              </a:rPr>
              <a:t>15:30 Veliefendi  -  Sezar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234440"/>
            <a:ext cx="5120640" cy="731520"/>
          </a:xfrm>
          <a:prstGeom prst="rect">
            <a:avLst/>
          </a:prstGeom>
          <a:solidFill>
            <a:srgbClr val="E8EAED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1" y="128930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A0A6"/>
                </a:solidFill>
                <a:latin typeface="Arial"/>
              </a:rPr>
              <a:t>Gunun Kosusu 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1" y="1508760"/>
            <a:ext cx="27432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strike="sngStrike">
                <a:solidFill>
                  <a:srgbClr val="9AA0A6"/>
                </a:solidFill>
                <a:latin typeface="Arial"/>
              </a:rPr>
              <a:t>5.50</a:t>
            </a:r>
            <a:r>
              <a:rPr sz="1200">
                <a:solidFill>
                  <a:srgbClr val="9AA0A6"/>
                </a:solidFill>
                <a:latin typeface="Arial"/>
              </a:rPr>
              <a:t>  -&gt;  </a:t>
            </a:r>
            <a:r>
              <a:rPr sz="1600" b="1">
                <a:solidFill>
                  <a:srgbClr val="3C4043"/>
                </a:solidFill>
                <a:latin typeface="Arial"/>
              </a:rPr>
              <a:t>6.50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82312" y="1307592"/>
            <a:ext cx="658368" cy="256032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1325880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+%18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79" y="2039112"/>
            <a:ext cx="5120640" cy="292608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0574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KUPONA EKLE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2395728"/>
            <a:ext cx="5120640" cy="237744"/>
          </a:xfrm>
          <a:prstGeom prst="rect">
            <a:avLst/>
          </a:prstGeom>
          <a:solidFill>
            <a:srgbClr val="E8EAED"/>
          </a:solidFill>
          <a:ln w="508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" y="24323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Arial"/>
              </a:rPr>
              <a:t>Firsat bitisi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323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3C4043"/>
                </a:solidFill>
                <a:latin typeface="Arial"/>
              </a:rPr>
              <a:t>00:12:40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2715768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79" y="2871216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392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Sabit oranli tekli fiyat boost. Was/now + geri sayim (FOMO).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932688"/>
            <a:ext cx="5303520" cy="242316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024128"/>
            <a:ext cx="5120640" cy="713232"/>
          </a:xfrm>
          <a:prstGeom prst="rect">
            <a:avLst/>
          </a:prstGeom>
          <a:solidFill>
            <a:srgbClr val="E8EAED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4224" y="1225296"/>
            <a:ext cx="256032" cy="256032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7101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113385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4043"/>
                </a:solidFill>
                <a:latin typeface="Arial"/>
              </a:rPr>
              <a:t>Odds Boost  -  1 hakkin var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13898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Arial"/>
              </a:rPr>
              <a:t>Kuponuna uygula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71632" y="1371600"/>
            <a:ext cx="548640" cy="219456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17352" y="13898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1847088"/>
            <a:ext cx="5120640" cy="457200"/>
          </a:xfrm>
          <a:prstGeom prst="rect">
            <a:avLst/>
          </a:prstGeom>
          <a:solidFill>
            <a:srgbClr val="E8EAED"/>
          </a:solidFill>
          <a:ln w="508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9202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Arial"/>
              </a:rPr>
              <a:t>Yeni oran: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190195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strike="sngStrike">
                <a:solidFill>
                  <a:srgbClr val="9AA0A6"/>
                </a:solidFill>
                <a:latin typeface="Arial"/>
              </a:rPr>
              <a:t>2.00</a:t>
            </a:r>
            <a:r>
              <a:rPr sz="1400" b="1">
                <a:solidFill>
                  <a:srgbClr val="3C4043"/>
                </a:solidFill>
                <a:latin typeface="Arial"/>
              </a:rPr>
              <a:t>  2.50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98480" y="1938528"/>
            <a:ext cx="621792" cy="237744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0" y="195681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+%25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91072" y="2377440"/>
            <a:ext cx="5120640" cy="292608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395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BOOST'U KULLAN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2743200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91072" y="2898648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3392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Gunluk 1 hak, kuponda toggle ile uygula. ANBEAN Kulup odulu.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3493008"/>
            <a:ext cx="5303520" cy="242316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3602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C4043"/>
                </a:solidFill>
                <a:latin typeface="Arial"/>
              </a:rPr>
              <a:t>Gun ici kosular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5661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C4043"/>
                </a:solidFill>
                <a:latin typeface="Arial"/>
              </a:rPr>
              <a:t>+%25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79" y="3913632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19" y="4032504"/>
            <a:ext cx="914400" cy="201168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1" y="4050791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043"/>
                </a:solidFill>
                <a:latin typeface="Arial"/>
              </a:rPr>
              <a:t>3 kosur -&gt; +5%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19" y="4361688"/>
            <a:ext cx="2286000" cy="201168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1" y="437997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043"/>
                </a:solidFill>
                <a:latin typeface="Arial"/>
              </a:rPr>
              <a:t>5 kosur -&gt; +25%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19" y="4690872"/>
            <a:ext cx="4937759" cy="201168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1" y="4709159"/>
            <a:ext cx="50291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8 kosur -&gt; +50%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79" y="5029200"/>
            <a:ext cx="292608" cy="274320"/>
          </a:xfrm>
          <a:prstGeom prst="rect">
            <a:avLst/>
          </a:prstGeom>
          <a:solidFill>
            <a:srgbClr val="E8EAED"/>
          </a:solidFill>
          <a:ln w="635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506577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Arial"/>
              </a:rPr>
              <a:t>-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0749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4043"/>
                </a:solidFill>
                <a:latin typeface="Arial"/>
              </a:rPr>
              <a:t>5 kosur secili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37560" y="5029200"/>
            <a:ext cx="292608" cy="274320"/>
          </a:xfrm>
          <a:prstGeom prst="rect">
            <a:avLst/>
          </a:prstGeom>
          <a:solidFill>
            <a:srgbClr val="E8EAED"/>
          </a:solidFill>
          <a:ln w="635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506577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Arial"/>
              </a:rPr>
              <a:t>+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79" y="5376672"/>
            <a:ext cx="5120640" cy="292608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79" y="539495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KOMBINEYi TAMAMLA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5952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Kosu ekledikce carpan buyur. Margin artirici.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3493008"/>
            <a:ext cx="5303520" cy="2423160"/>
          </a:xfrm>
          <a:prstGeom prst="roundRect">
            <a:avLst/>
          </a:prstGeom>
          <a:solidFill>
            <a:srgbClr val="F1F3F4"/>
          </a:solidFill>
          <a:ln w="9525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1072" y="358444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Arial"/>
              </a:rPr>
              <a:t>Buyuk Handikap  -  14 at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91072" y="3840480"/>
            <a:ext cx="5120640" cy="301752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2512" y="389534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EN IYI ORAN GARANTISI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71632" y="3877056"/>
            <a:ext cx="548640" cy="219456"/>
          </a:xfrm>
          <a:prstGeom prst="roundRect">
            <a:avLst/>
          </a:prstGeom>
          <a:solidFill>
            <a:srgbClr val="E85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71632" y="389534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BOG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91072" y="4215384"/>
            <a:ext cx="5120640" cy="594360"/>
          </a:xfrm>
          <a:prstGeom prst="rect">
            <a:avLst/>
          </a:prstGeom>
          <a:solidFill>
            <a:srgbClr val="E8EAED"/>
          </a:solidFill>
          <a:ln w="9525">
            <a:solidFill>
              <a:srgbClr val="9AA0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42702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Arial"/>
              </a:rPr>
              <a:t>6.00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71231" y="4325112"/>
            <a:ext cx="3840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Arial"/>
              </a:rPr>
              <a:t>SP yuksekse SP'den odenir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91072" y="4882896"/>
            <a:ext cx="5120640" cy="274320"/>
          </a:xfrm>
          <a:prstGeom prst="roundRect">
            <a:avLst/>
          </a:prstGeom>
          <a:solidFill>
            <a:srgbClr val="E8EAED"/>
          </a:solidFill>
          <a:ln w="6350">
            <a:solidFill>
              <a:srgbClr val="9AA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2512" y="492861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Arial"/>
              </a:rPr>
              <a:t>Ekstra plase: 5 sira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91072" y="5230368"/>
            <a:ext cx="5120640" cy="292608"/>
          </a:xfrm>
          <a:prstGeom prst="roundRect">
            <a:avLst/>
          </a:prstGeom>
          <a:solidFill>
            <a:srgbClr val="3C4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91072" y="5248655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OYNA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91072" y="5596128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91072" y="5751576"/>
            <a:ext cx="5120640" cy="13716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9632" y="59527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F73"/>
                </a:solidFill>
                <a:latin typeface="Arial"/>
              </a:rPr>
              <a:t>Sabit ihtimalliye ozgu deger. Amiral farklilasma mekanigi.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208776"/>
            <a:ext cx="11430000" cy="18288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26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1919"/>
                </a:solidFill>
                <a:latin typeface="Arial"/>
              </a:rPr>
              <a:t>BiTalih durusu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55624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1">
                <a:solidFill>
                  <a:srgbClr val="191919"/>
                </a:solidFill>
                <a:latin typeface="Arial"/>
              </a:rPr>
              <a:t>BOG ile farklilasma.</a:t>
            </a:r>
            <a:r>
              <a:rPr sz="1100">
                <a:solidFill>
                  <a:srgbClr val="191919"/>
                </a:solidFill>
                <a:latin typeface="Arial"/>
              </a:rPr>
              <a:t>  Sabit ihtimalli yarisinin en guclu vaadi; rakipte yokken sen erken benimse.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91919"/>
                </a:solidFill>
                <a:latin typeface="Arial"/>
              </a:rPr>
              <a:t>Gunluk jeton = DAU + sadakat.</a:t>
            </a:r>
            <a:r>
              <a:rPr sz="1100">
                <a:solidFill>
                  <a:srgbClr val="191919"/>
                </a:solidFill>
                <a:latin typeface="Arial"/>
              </a:rPr>
              <a:t>  ANBEAN Kulup'e gom, koleksiyon kartina bagla.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91919"/>
                </a:solidFill>
                <a:latin typeface="Arial"/>
              </a:rPr>
              <a:t>Kombine boost = margin.</a:t>
            </a:r>
            <a:r>
              <a:rPr sz="1100">
                <a:solidFill>
                  <a:srgbClr val="191919"/>
                </a:solidFill>
                <a:latin typeface="Arial"/>
              </a:rPr>
              <a:t>  Gun ici kosular arasi, bacak arttikca artan carpan.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91919"/>
                </a:solidFill>
                <a:latin typeface="Arial"/>
              </a:rPr>
              <a:t>Event super boost = acquisition.</a:t>
            </a:r>
            <a:r>
              <a:rPr sz="1100">
                <a:solidFill>
                  <a:srgbClr val="191919"/>
                </a:solidFill>
                <a:latin typeface="Arial"/>
              </a:rPr>
              <a:t>  Buyuk kosu, viral algi icin dusuk limitli.</a:t>
            </a:r>
          </a:p>
          <a:p>
            <a:pPr algn="l">
              <a:spcBef>
                <a:spcPts val="200"/>
              </a:spcBef>
            </a:pPr>
            <a:r>
              <a:rPr sz="1100" b="1">
                <a:solidFill>
                  <a:srgbClr val="191919"/>
                </a:solidFill>
                <a:latin typeface="Arial"/>
              </a:rPr>
              <a:t>Her boost'a guardrail.</a:t>
            </a:r>
            <a:r>
              <a:rPr sz="1100">
                <a:solidFill>
                  <a:srgbClr val="191919"/>
                </a:solidFill>
                <a:latin typeface="Arial"/>
              </a:rPr>
              <a:t>  Maksimum stake, win-only, dar zaman penceresi, net ve kisa T&amp;C.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